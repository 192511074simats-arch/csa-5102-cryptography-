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oppins" panose="020B0502040204020203" pitchFamily="2" charset="0"/>
      <p:regular r:id="rId9"/>
    </p:embeddedFont>
    <p:embeddedFont>
      <p:font typeface="Poppins Bold" panose="020B0604020202020204" charset="0"/>
      <p:regular r:id="rId10"/>
    </p:embeddedFont>
    <p:embeddedFont>
      <p:font typeface="Poppins Semi-Bold" panose="020B0604020202020204" charset="0"/>
      <p:regular r:id="rId11"/>
    </p:embeddedFont>
    <p:embeddedFont>
      <p:font typeface="TT Interphases" panose="020B0604020202020204" charset="0"/>
      <p:regular r:id="rId12"/>
    </p:embeddedFont>
    <p:embeddedFont>
      <p:font typeface="TT Interphase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P</a:t>
            </a:r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6748622" y="4493047"/>
            <a:ext cx="11539378" cy="5793953"/>
          </a:xfrm>
          <a:custGeom>
            <a:avLst/>
            <a:gdLst/>
            <a:ahLst/>
            <a:cxnLst/>
            <a:rect l="l" t="t" r="r" b="b"/>
            <a:pathLst>
              <a:path w="11539378" h="5793953">
                <a:moveTo>
                  <a:pt x="0" y="0"/>
                </a:moveTo>
                <a:lnTo>
                  <a:pt x="11539378" y="0"/>
                </a:lnTo>
                <a:lnTo>
                  <a:pt x="1153937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45598" y="2142670"/>
            <a:ext cx="7634584" cy="6001661"/>
          </a:xfrm>
          <a:custGeom>
            <a:avLst/>
            <a:gdLst/>
            <a:ahLst/>
            <a:cxnLst/>
            <a:rect l="l" t="t" r="r" b="b"/>
            <a:pathLst>
              <a:path w="7634584" h="6001661">
                <a:moveTo>
                  <a:pt x="0" y="0"/>
                </a:moveTo>
                <a:lnTo>
                  <a:pt x="7634584" y="0"/>
                </a:lnTo>
                <a:lnTo>
                  <a:pt x="7634584" y="6001660"/>
                </a:lnTo>
                <a:lnTo>
                  <a:pt x="0" y="6001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79111" y="1713770"/>
            <a:ext cx="9777173" cy="286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6"/>
              </a:lnSpc>
            </a:pPr>
            <a:r>
              <a:rPr lang="en-US" sz="7848" b="1">
                <a:solidFill>
                  <a:srgbClr val="EFE7D8"/>
                </a:solidFill>
                <a:latin typeface="Poppins Bold"/>
                <a:ea typeface="Poppins Bold"/>
                <a:cs typeface="Poppins Bold"/>
                <a:sym typeface="Poppins Bold"/>
              </a:rPr>
              <a:t>ROLE OF </a:t>
            </a:r>
          </a:p>
          <a:p>
            <a:pPr algn="l">
              <a:lnSpc>
                <a:spcPts val="7296"/>
              </a:lnSpc>
            </a:pPr>
            <a:r>
              <a:rPr lang="en-US" sz="7848" b="1">
                <a:solidFill>
                  <a:srgbClr val="EFE7D8"/>
                </a:solidFill>
                <a:latin typeface="Poppins Bold"/>
                <a:ea typeface="Poppins Bold"/>
                <a:cs typeface="Poppins Bold"/>
                <a:sym typeface="Poppins Bold"/>
              </a:rPr>
              <a:t>NUMBER THEORY </a:t>
            </a:r>
          </a:p>
          <a:p>
            <a:pPr algn="l">
              <a:lnSpc>
                <a:spcPts val="7296"/>
              </a:lnSpc>
            </a:pPr>
            <a:r>
              <a:rPr lang="en-US" sz="7848" b="1">
                <a:solidFill>
                  <a:srgbClr val="EFE7D8"/>
                </a:solidFill>
                <a:latin typeface="Poppins Bold"/>
                <a:ea typeface="Poppins Bold"/>
                <a:cs typeface="Poppins Bold"/>
                <a:sym typeface="Poppins Bold"/>
              </a:rPr>
              <a:t>IN CRYPTOGRAPHY: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118" y="4830675"/>
            <a:ext cx="9776526" cy="82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sz="6615" b="1">
                <a:solidFill>
                  <a:srgbClr val="C09648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FROM EUCLID TO EULER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5990729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0AB3026-46EC-ED93-CE9D-8D204C94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30" y="7063750"/>
            <a:ext cx="7772400" cy="201004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PRESENTED BY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PRIYANKA C (192511074)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1539378" cy="10287000"/>
          </a:xfrm>
          <a:custGeom>
            <a:avLst/>
            <a:gdLst/>
            <a:ahLst/>
            <a:cxnLst/>
            <a:rect l="l" t="t" r="r" b="b"/>
            <a:pathLst>
              <a:path w="11539378" h="10287000">
                <a:moveTo>
                  <a:pt x="0" y="0"/>
                </a:moveTo>
                <a:lnTo>
                  <a:pt x="11539378" y="0"/>
                </a:lnTo>
                <a:lnTo>
                  <a:pt x="115393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706488" y="0"/>
            <a:ext cx="2832890" cy="10287000"/>
          </a:xfrm>
          <a:custGeom>
            <a:avLst/>
            <a:gdLst/>
            <a:ahLst/>
            <a:cxnLst/>
            <a:rect l="l" t="t" r="r" b="b"/>
            <a:pathLst>
              <a:path w="2832890" h="10287000">
                <a:moveTo>
                  <a:pt x="0" y="0"/>
                </a:moveTo>
                <a:lnTo>
                  <a:pt x="2832890" y="0"/>
                </a:lnTo>
                <a:lnTo>
                  <a:pt x="2832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39691" y="1546276"/>
            <a:ext cx="8361377" cy="478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2"/>
              </a:lnSpc>
            </a:pPr>
            <a:r>
              <a:rPr lang="en-US" sz="8101" b="1" spc="-201">
                <a:solidFill>
                  <a:srgbClr val="F4ECDE"/>
                </a:solidFill>
                <a:latin typeface="Poppins Bold"/>
                <a:ea typeface="Poppins Bold"/>
                <a:cs typeface="Poppins Bold"/>
                <a:sym typeface="Poppins Bold"/>
              </a:rPr>
              <a:t>HISTORICAL FOUNDATIONS OF NUMBER THEORY IN </a:t>
            </a:r>
            <a:r>
              <a:rPr lang="en-US" sz="8101" b="1" spc="-201">
                <a:solidFill>
                  <a:srgbClr val="BD944E"/>
                </a:solidFill>
                <a:latin typeface="Poppins Bold"/>
                <a:ea typeface="Poppins Bold"/>
                <a:cs typeface="Poppins Bold"/>
                <a:sym typeface="Poppins Bold"/>
              </a:rPr>
              <a:t>CRYPTOGRAPHY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9353" y="6662049"/>
            <a:ext cx="6395194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>
                <a:solidFill>
                  <a:srgbClr val="F4ECD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Number theory forms the mathematical backbone of cryptography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0300" y="7897038"/>
            <a:ext cx="5300489" cy="4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>
                <a:solidFill>
                  <a:srgbClr val="F4ECD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Ideas shaped by Euclid and Euler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619" y="8619958"/>
            <a:ext cx="6768596" cy="46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>
                <a:solidFill>
                  <a:srgbClr val="F4ECD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Centuries of insight securing modern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4460" y="692995"/>
            <a:ext cx="8526638" cy="346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6"/>
              </a:lnSpc>
            </a:pPr>
            <a:r>
              <a:rPr lang="en-US" sz="6706" b="1" spc="-134">
                <a:solidFill>
                  <a:srgbClr val="F0E9E1"/>
                </a:solidFill>
                <a:latin typeface="Poppins Bold"/>
                <a:ea typeface="Poppins Bold"/>
                <a:cs typeface="Poppins Bold"/>
                <a:sym typeface="Poppins Bold"/>
              </a:rPr>
              <a:t>EUCLID’S ALGORITHM AND ITS CRYPTOGRAPHIC </a:t>
            </a:r>
            <a:r>
              <a:rPr lang="en-US" sz="6706" b="1" spc="-134">
                <a:solidFill>
                  <a:srgbClr val="B88D49"/>
                </a:solidFill>
                <a:latin typeface="Poppins Bold"/>
                <a:ea typeface="Poppins Bold"/>
                <a:cs typeface="Poppins Bold"/>
                <a:sym typeface="Poppins Bold"/>
              </a:rPr>
              <a:t>SIGNIFICANCE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401" y="4642027"/>
            <a:ext cx="6032599" cy="93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54">
                <a:solidFill>
                  <a:srgbClr val="F0E9E1"/>
                </a:solidFill>
                <a:latin typeface="Poppins"/>
                <a:ea typeface="Poppins"/>
                <a:cs typeface="Poppins"/>
                <a:sym typeface="Poppins"/>
              </a:rPr>
              <a:t>Euclid’s algorithm efficiently finds the greatest common divisor (GCD).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0571" y="5952320"/>
            <a:ext cx="5915580" cy="93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spc="-54">
                <a:solidFill>
                  <a:srgbClr val="F0E9E1"/>
                </a:solidFill>
                <a:latin typeface="Poppins"/>
                <a:ea typeface="Poppins"/>
                <a:cs typeface="Poppins"/>
                <a:sym typeface="Poppins"/>
              </a:rPr>
              <a:t>GCD ensures numbers are coprime, </a:t>
            </a:r>
          </a:p>
          <a:p>
            <a:pPr algn="l">
              <a:lnSpc>
                <a:spcPts val="3789"/>
              </a:lnSpc>
            </a:pPr>
            <a:r>
              <a:rPr lang="en-US" sz="2707" spc="-54">
                <a:solidFill>
                  <a:srgbClr val="F0E9E1"/>
                </a:solidFill>
                <a:latin typeface="Poppins"/>
                <a:ea typeface="Poppins"/>
                <a:cs typeface="Poppins"/>
                <a:sym typeface="Poppins"/>
              </a:rPr>
              <a:t>a foundation of secure keys.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4756" y="7220846"/>
            <a:ext cx="5497031" cy="97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spc="-55">
                <a:solidFill>
                  <a:srgbClr val="F0E9E1"/>
                </a:solidFill>
                <a:latin typeface="Poppins"/>
                <a:ea typeface="Poppins"/>
                <a:cs typeface="Poppins"/>
                <a:sym typeface="Poppins"/>
              </a:rPr>
              <a:t>It underpins modular inverses and many encryption schemes.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5153" y="8516079"/>
            <a:ext cx="5457370" cy="979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spc="-55">
                <a:solidFill>
                  <a:srgbClr val="F0E9E1"/>
                </a:solidFill>
                <a:latin typeface="Poppins"/>
                <a:ea typeface="Poppins"/>
                <a:cs typeface="Poppins"/>
                <a:sym typeface="Poppins"/>
              </a:rPr>
              <a:t>Simple steps, profound impact on modern cryptography.</a:t>
            </a:r>
          </a:p>
        </p:txBody>
      </p:sp>
      <p:sp>
        <p:nvSpPr>
          <p:cNvPr id="8" name="Freeform 8"/>
          <p:cNvSpPr/>
          <p:nvPr/>
        </p:nvSpPr>
        <p:spPr>
          <a:xfrm>
            <a:off x="9789330" y="634055"/>
            <a:ext cx="7634584" cy="9018889"/>
          </a:xfrm>
          <a:custGeom>
            <a:avLst/>
            <a:gdLst/>
            <a:ahLst/>
            <a:cxnLst/>
            <a:rect l="l" t="t" r="r" b="b"/>
            <a:pathLst>
              <a:path w="7634584" h="9018889">
                <a:moveTo>
                  <a:pt x="0" y="0"/>
                </a:moveTo>
                <a:lnTo>
                  <a:pt x="7634584" y="0"/>
                </a:lnTo>
                <a:lnTo>
                  <a:pt x="7634584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397775" y="1402458"/>
            <a:ext cx="4995963" cy="35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623" b="1" spc="-52">
                <a:solidFill>
                  <a:srgbClr val="B88D49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 FIND GCD(252, 105)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82588" y="2539331"/>
            <a:ext cx="3835747" cy="45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b="1" spc="-69">
                <a:solidFill>
                  <a:srgbClr val="F0E9E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252 = 2 × 105 + 42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75034" y="2578264"/>
            <a:ext cx="1968436" cy="33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1" spc="-96">
                <a:solidFill>
                  <a:srgbClr val="B88D49"/>
                </a:solidFill>
                <a:latin typeface="Poppins Bold"/>
                <a:ea typeface="Poppins Bold"/>
                <a:cs typeface="Poppins Bold"/>
                <a:sym typeface="Poppins Bold"/>
              </a:rPr>
              <a:t>remainder 42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008086" y="3421712"/>
            <a:ext cx="6978316" cy="229572"/>
          </a:xfrm>
          <a:custGeom>
            <a:avLst/>
            <a:gdLst/>
            <a:ahLst/>
            <a:cxnLst/>
            <a:rect l="l" t="t" r="r" b="b"/>
            <a:pathLst>
              <a:path w="6978316" h="229572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278488" y="3214004"/>
            <a:ext cx="437512" cy="863627"/>
          </a:xfrm>
          <a:custGeom>
            <a:avLst/>
            <a:gdLst/>
            <a:ahLst/>
            <a:cxnLst/>
            <a:rect l="l" t="t" r="r" b="b"/>
            <a:pathLst>
              <a:path w="437512" h="863627">
                <a:moveTo>
                  <a:pt x="0" y="0"/>
                </a:moveTo>
                <a:lnTo>
                  <a:pt x="437512" y="0"/>
                </a:lnTo>
                <a:lnTo>
                  <a:pt x="43751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439718" y="4301449"/>
            <a:ext cx="3480568" cy="45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b="1" spc="-69">
                <a:solidFill>
                  <a:srgbClr val="F0E9E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105 = 2 × 42 + 21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75854" y="4340382"/>
            <a:ext cx="1886474" cy="335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1" spc="-96">
                <a:solidFill>
                  <a:srgbClr val="B88D49"/>
                </a:solidFill>
                <a:latin typeface="Poppins Bold"/>
                <a:ea typeface="Poppins Bold"/>
                <a:cs typeface="Poppins Bold"/>
                <a:sym typeface="Poppins Bold"/>
              </a:rPr>
              <a:t>remainder 21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008086" y="5138034"/>
            <a:ext cx="6978316" cy="229572"/>
          </a:xfrm>
          <a:custGeom>
            <a:avLst/>
            <a:gdLst/>
            <a:ahLst/>
            <a:cxnLst/>
            <a:rect l="l" t="t" r="r" b="b"/>
            <a:pathLst>
              <a:path w="6978316" h="229572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278488" y="4919394"/>
            <a:ext cx="437512" cy="874559"/>
          </a:xfrm>
          <a:custGeom>
            <a:avLst/>
            <a:gdLst/>
            <a:ahLst/>
            <a:cxnLst/>
            <a:rect l="l" t="t" r="r" b="b"/>
            <a:pathLst>
              <a:path w="437512" h="874559">
                <a:moveTo>
                  <a:pt x="0" y="0"/>
                </a:moveTo>
                <a:lnTo>
                  <a:pt x="437512" y="0"/>
                </a:lnTo>
                <a:lnTo>
                  <a:pt x="43751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712026" y="6048506"/>
            <a:ext cx="3038793" cy="45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b="1" spc="-69">
                <a:solidFill>
                  <a:srgbClr val="F0E9E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42 = 2 × 21 + 0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76954" y="6072336"/>
            <a:ext cx="1776505" cy="32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sz="2355" b="1" spc="-94">
                <a:solidFill>
                  <a:srgbClr val="B88D49"/>
                </a:solidFill>
                <a:latin typeface="Poppins Bold"/>
                <a:ea typeface="Poppins Bold"/>
                <a:cs typeface="Poppins Bold"/>
                <a:sym typeface="Poppins Bold"/>
              </a:rPr>
              <a:t>remainder 0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008086" y="6854356"/>
            <a:ext cx="6978316" cy="437279"/>
          </a:xfrm>
          <a:custGeom>
            <a:avLst/>
            <a:gdLst/>
            <a:ahLst/>
            <a:cxnLst/>
            <a:rect l="l" t="t" r="r" b="b"/>
            <a:pathLst>
              <a:path w="6978316" h="437279">
                <a:moveTo>
                  <a:pt x="0" y="0"/>
                </a:moveTo>
                <a:lnTo>
                  <a:pt x="6978316" y="0"/>
                </a:lnTo>
                <a:lnTo>
                  <a:pt x="6978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278488" y="6635716"/>
            <a:ext cx="437512" cy="874559"/>
          </a:xfrm>
          <a:custGeom>
            <a:avLst/>
            <a:gdLst/>
            <a:ahLst/>
            <a:cxnLst/>
            <a:rect l="l" t="t" r="r" b="b"/>
            <a:pathLst>
              <a:path w="437512" h="874559">
                <a:moveTo>
                  <a:pt x="0" y="0"/>
                </a:moveTo>
                <a:lnTo>
                  <a:pt x="437512" y="0"/>
                </a:lnTo>
                <a:lnTo>
                  <a:pt x="43751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008086" y="7707051"/>
            <a:ext cx="6978316" cy="1508614"/>
          </a:xfrm>
          <a:custGeom>
            <a:avLst/>
            <a:gdLst/>
            <a:ahLst/>
            <a:cxnLst/>
            <a:rect l="l" t="t" r="r" b="b"/>
            <a:pathLst>
              <a:path w="6978316" h="1508614">
                <a:moveTo>
                  <a:pt x="0" y="0"/>
                </a:moveTo>
                <a:lnTo>
                  <a:pt x="6978316" y="0"/>
                </a:lnTo>
                <a:lnTo>
                  <a:pt x="6978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313618" y="8272532"/>
            <a:ext cx="4202547" cy="461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sz="3616" b="1" spc="-72">
                <a:solidFill>
                  <a:srgbClr val="151821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GCD(252, 105) =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20622" y="0"/>
            <a:ext cx="6967378" cy="10287000"/>
          </a:xfrm>
          <a:custGeom>
            <a:avLst/>
            <a:gdLst/>
            <a:ahLst/>
            <a:cxnLst/>
            <a:rect l="l" t="t" r="r" b="b"/>
            <a:pathLst>
              <a:path w="6967378" h="10287000">
                <a:moveTo>
                  <a:pt x="0" y="0"/>
                </a:moveTo>
                <a:lnTo>
                  <a:pt x="6967378" y="0"/>
                </a:lnTo>
                <a:lnTo>
                  <a:pt x="69673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7755" y="1093685"/>
            <a:ext cx="10555016" cy="169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7"/>
              </a:lnSpc>
            </a:pPr>
            <a:r>
              <a:rPr lang="en-US" sz="6780" b="1" spc="-135">
                <a:solidFill>
                  <a:srgbClr val="F2E9DC"/>
                </a:solidFill>
                <a:latin typeface="Poppins Bold"/>
                <a:ea typeface="Poppins Bold"/>
                <a:cs typeface="Poppins Bold"/>
                <a:sym typeface="Poppins Bold"/>
              </a:rPr>
              <a:t>EULER’S TOTIENT FUNCTION AND </a:t>
            </a:r>
            <a:r>
              <a:rPr lang="en-US" sz="6780" b="1" spc="-135">
                <a:solidFill>
                  <a:srgbClr val="B08A4E"/>
                </a:solidFill>
                <a:latin typeface="Poppins Bold"/>
                <a:ea typeface="Poppins Bold"/>
                <a:cs typeface="Poppins Bold"/>
                <a:sym typeface="Poppins Bold"/>
              </a:rPr>
              <a:t>THEOREM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6157" y="3271469"/>
            <a:ext cx="4393714" cy="54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2759" b="1" spc="-55">
                <a:solidFill>
                  <a:srgbClr val="B08A4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TOTIENT FUNCTION Φ(N)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6506" y="3858997"/>
            <a:ext cx="4358755" cy="98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7"/>
              </a:lnSpc>
            </a:pPr>
            <a:r>
              <a:rPr lang="en-US" sz="2351" spc="-47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Counts the integers up to n that are coprime to 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7320" y="5349866"/>
            <a:ext cx="3277366" cy="54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2759" b="1" spc="-55">
                <a:solidFill>
                  <a:srgbClr val="B08A4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EULER’S THEOREM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1623" y="5978851"/>
            <a:ext cx="2847074" cy="910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232" spc="-44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For coprime a and n,</a:t>
            </a:r>
          </a:p>
          <a:p>
            <a:pPr algn="l">
              <a:lnSpc>
                <a:spcPts val="3795"/>
              </a:lnSpc>
            </a:pPr>
            <a:r>
              <a:rPr lang="en-US" sz="2232" spc="-44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a^\(n) = 1 (mod n).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4429" y="7398140"/>
            <a:ext cx="4566436" cy="54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2759" b="1" spc="-55">
                <a:solidFill>
                  <a:srgbClr val="B08A4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CRYPTOGRAPHIC IMPACT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0659" y="8000729"/>
            <a:ext cx="4943471" cy="98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7"/>
              </a:lnSpc>
            </a:pPr>
            <a:r>
              <a:rPr lang="en-US" sz="2351" spc="-47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Foundation for RSA and many other public key cryptosystems.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311110" y="3214004"/>
            <a:ext cx="5447024" cy="6438940"/>
          </a:xfrm>
          <a:custGeom>
            <a:avLst/>
            <a:gdLst/>
            <a:ahLst/>
            <a:cxnLst/>
            <a:rect l="l" t="t" r="r" b="b"/>
            <a:pathLst>
              <a:path w="5447024" h="6438940">
                <a:moveTo>
                  <a:pt x="0" y="0"/>
                </a:moveTo>
                <a:lnTo>
                  <a:pt x="5447024" y="0"/>
                </a:lnTo>
                <a:lnTo>
                  <a:pt x="5447024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680238" y="3542565"/>
            <a:ext cx="1702810" cy="54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2759" b="1" spc="-55">
                <a:solidFill>
                  <a:srgbClr val="B08A4E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EXAMPLE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84757" y="4250579"/>
            <a:ext cx="1250885" cy="48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7"/>
              </a:lnSpc>
            </a:pPr>
            <a:r>
              <a:rPr lang="en-US" sz="2351" spc="-47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For n = 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48523" y="4894246"/>
            <a:ext cx="4874228" cy="45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311" spc="-46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Numbers coprime to 9: 1, 2, 4, 5, 7, 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80577" y="5532884"/>
            <a:ext cx="1668859" cy="45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311" spc="-46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So, φ(9) = 6</a:t>
            </a:r>
          </a:p>
        </p:txBody>
      </p:sp>
      <p:sp>
        <p:nvSpPr>
          <p:cNvPr id="16" name="Freeform 16"/>
          <p:cNvSpPr/>
          <p:nvPr/>
        </p:nvSpPr>
        <p:spPr>
          <a:xfrm>
            <a:off x="6529866" y="6209369"/>
            <a:ext cx="5009512" cy="229572"/>
          </a:xfrm>
          <a:custGeom>
            <a:avLst/>
            <a:gdLst/>
            <a:ahLst/>
            <a:cxnLst/>
            <a:rect l="l" t="t" r="r" b="b"/>
            <a:pathLst>
              <a:path w="5009512" h="229572">
                <a:moveTo>
                  <a:pt x="0" y="0"/>
                </a:moveTo>
                <a:lnTo>
                  <a:pt x="5009512" y="0"/>
                </a:lnTo>
                <a:lnTo>
                  <a:pt x="500951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682569" y="6630192"/>
            <a:ext cx="1469659" cy="48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7"/>
              </a:lnSpc>
            </a:pPr>
            <a:r>
              <a:rPr lang="en-US" sz="2351" spc="-47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Take a =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71216" y="7290258"/>
            <a:ext cx="2604936" cy="43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074" spc="-41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2^\(9) = 2^\(6 = 64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77097" y="7901716"/>
            <a:ext cx="2016893" cy="47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271" spc="-45">
                <a:solidFill>
                  <a:srgbClr val="F2E9DC"/>
                </a:solidFill>
                <a:latin typeface="Poppins"/>
                <a:ea typeface="Poppins"/>
                <a:cs typeface="Poppins"/>
                <a:sym typeface="Poppins"/>
              </a:rPr>
              <a:t>64 = 1 (mod 9)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2529" y="8560113"/>
            <a:ext cx="3473654" cy="45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311" b="1" spc="-46">
                <a:solidFill>
                  <a:srgbClr val="B08A4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Euler’s theorem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8483" y="441175"/>
            <a:ext cx="9839977" cy="1568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84"/>
              </a:lnSpc>
            </a:pPr>
            <a:r>
              <a:rPr lang="en-US" sz="11084" b="1" spc="-108">
                <a:solidFill>
                  <a:srgbClr val="F4ECDF"/>
                </a:solidFill>
                <a:latin typeface="Poppins Bold"/>
                <a:ea typeface="Poppins Bold"/>
                <a:cs typeface="Poppins Bold"/>
                <a:sym typeface="Poppins Bold"/>
              </a:rPr>
              <a:t>FROM THEORY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6387" y="1591851"/>
            <a:ext cx="9049560" cy="157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43"/>
              </a:lnSpc>
            </a:pPr>
            <a:r>
              <a:rPr lang="en-US" sz="11043" b="1" spc="-107">
                <a:solidFill>
                  <a:srgbClr val="BD914B"/>
                </a:solidFill>
                <a:latin typeface="Poppins Bold"/>
                <a:ea typeface="Poppins Bold"/>
                <a:cs typeface="Poppins Bold"/>
                <a:sym typeface="Poppins Bold"/>
              </a:rPr>
              <a:t>TO PRACTICE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1561" y="3135387"/>
            <a:ext cx="7247809" cy="39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25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Number theory powers modern cryptography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7350" y="3886869"/>
            <a:ext cx="3668923" cy="71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623" b="1" spc="52">
                <a:solidFill>
                  <a:srgbClr val="BD914B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KEY CRYPTOGRAPHIC ALGORITHMS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0281" y="4811473"/>
            <a:ext cx="3375843" cy="7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RSA encryption</a:t>
            </a:r>
          </a:p>
          <a:p>
            <a:pPr algn="l">
              <a:lnSpc>
                <a:spcPts val="3034"/>
              </a:lnSpc>
            </a:pP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and key generation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5783021"/>
            <a:ext cx="667206" cy="218640"/>
          </a:xfrm>
          <a:custGeom>
            <a:avLst/>
            <a:gdLst/>
            <a:ahLst/>
            <a:cxnLst/>
            <a:rect l="l" t="t" r="r" b="b"/>
            <a:pathLst>
              <a:path w="667206" h="218640">
                <a:moveTo>
                  <a:pt x="0" y="0"/>
                </a:moveTo>
                <a:lnTo>
                  <a:pt x="667206" y="0"/>
                </a:lnTo>
                <a:lnTo>
                  <a:pt x="66720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59195" y="6136827"/>
            <a:ext cx="2484360" cy="7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Diffie-Hellman</a:t>
            </a:r>
          </a:p>
          <a:p>
            <a:pPr algn="l">
              <a:lnSpc>
                <a:spcPts val="3034"/>
              </a:lnSpc>
            </a:pP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key exchange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7062064"/>
            <a:ext cx="667206" cy="229572"/>
          </a:xfrm>
          <a:custGeom>
            <a:avLst/>
            <a:gdLst/>
            <a:ahLst/>
            <a:cxnLst/>
            <a:rect l="l" t="t" r="r" b="b"/>
            <a:pathLst>
              <a:path w="667206" h="229572">
                <a:moveTo>
                  <a:pt x="0" y="0"/>
                </a:moveTo>
                <a:lnTo>
                  <a:pt x="667206" y="0"/>
                </a:lnTo>
                <a:lnTo>
                  <a:pt x="667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65231" y="7477242"/>
            <a:ext cx="1880814" cy="76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EIGamal</a:t>
            </a:r>
          </a:p>
          <a:p>
            <a:pPr algn="l">
              <a:lnSpc>
                <a:spcPts val="3034"/>
              </a:lnSpc>
            </a:pP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encryption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11100" y="3762974"/>
            <a:ext cx="2891565" cy="66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311" b="1" spc="-22">
                <a:solidFill>
                  <a:srgbClr val="BD914B"/>
                </a:solidFill>
                <a:latin typeface="Poppins Bold"/>
                <a:ea typeface="Poppins Bold"/>
                <a:cs typeface="Poppins Bold"/>
                <a:sym typeface="Poppins Bold"/>
              </a:rPr>
              <a:t>CLASSICAL NUMBER THEORY PROBLEM</a:t>
            </a:r>
          </a:p>
        </p:txBody>
      </p:sp>
      <p:sp>
        <p:nvSpPr>
          <p:cNvPr id="13" name="Freeform 13"/>
          <p:cNvSpPr/>
          <p:nvPr/>
        </p:nvSpPr>
        <p:spPr>
          <a:xfrm>
            <a:off x="5654842" y="4493047"/>
            <a:ext cx="7197072" cy="229572"/>
          </a:xfrm>
          <a:custGeom>
            <a:avLst/>
            <a:gdLst/>
            <a:ahLst/>
            <a:cxnLst/>
            <a:rect l="l" t="t" r="r" b="b"/>
            <a:pathLst>
              <a:path w="7197072" h="229572">
                <a:moveTo>
                  <a:pt x="0" y="0"/>
                </a:moveTo>
                <a:lnTo>
                  <a:pt x="7197072" y="0"/>
                </a:lnTo>
                <a:lnTo>
                  <a:pt x="7197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819309" y="4834636"/>
            <a:ext cx="2070698" cy="767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22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Factoring large integers</a:t>
            </a:r>
          </a:p>
        </p:txBody>
      </p:sp>
      <p:sp>
        <p:nvSpPr>
          <p:cNvPr id="15" name="Freeform 15"/>
          <p:cNvSpPr/>
          <p:nvPr/>
        </p:nvSpPr>
        <p:spPr>
          <a:xfrm>
            <a:off x="5654842" y="5783021"/>
            <a:ext cx="5884536" cy="218640"/>
          </a:xfrm>
          <a:custGeom>
            <a:avLst/>
            <a:gdLst/>
            <a:ahLst/>
            <a:cxnLst/>
            <a:rect l="l" t="t" r="r" b="b"/>
            <a:pathLst>
              <a:path w="5884536" h="218640">
                <a:moveTo>
                  <a:pt x="0" y="0"/>
                </a:moveTo>
                <a:lnTo>
                  <a:pt x="5884536" y="0"/>
                </a:lnTo>
                <a:lnTo>
                  <a:pt x="588453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812772" y="6162028"/>
            <a:ext cx="2724372" cy="73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spc="-21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Discrete logarithms in finite fields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54842" y="7062064"/>
            <a:ext cx="5884536" cy="229572"/>
          </a:xfrm>
          <a:custGeom>
            <a:avLst/>
            <a:gdLst/>
            <a:ahLst/>
            <a:cxnLst/>
            <a:rect l="l" t="t" r="r" b="b"/>
            <a:pathLst>
              <a:path w="5884536" h="229572">
                <a:moveTo>
                  <a:pt x="0" y="0"/>
                </a:moveTo>
                <a:lnTo>
                  <a:pt x="5884536" y="0"/>
                </a:lnTo>
                <a:lnTo>
                  <a:pt x="588453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812772" y="7487382"/>
            <a:ext cx="2724372" cy="73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spc="-21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Discrete logarithms for encryption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9144000" y="4493047"/>
            <a:ext cx="218756" cy="4088563"/>
          </a:xfrm>
          <a:custGeom>
            <a:avLst/>
            <a:gdLst/>
            <a:ahLst/>
            <a:cxnLst/>
            <a:rect l="l" t="t" r="r" b="b"/>
            <a:pathLst>
              <a:path w="218756" h="4088563">
                <a:moveTo>
                  <a:pt x="0" y="0"/>
                </a:moveTo>
                <a:lnTo>
                  <a:pt x="218756" y="0"/>
                </a:lnTo>
                <a:lnTo>
                  <a:pt x="21875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538769" y="3771766"/>
            <a:ext cx="2492624" cy="635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b="1" spc="-22">
                <a:solidFill>
                  <a:srgbClr val="BD914B"/>
                </a:solidFill>
                <a:latin typeface="Poppins Bold"/>
                <a:ea typeface="Poppins Bold"/>
                <a:cs typeface="Poppins Bold"/>
                <a:sym typeface="Poppins Bold"/>
              </a:rPr>
              <a:t>CRYPTOGRAPHIC APPLICATION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36930" y="4861009"/>
            <a:ext cx="2676506" cy="72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92" spc="-21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RSA encryption</a:t>
            </a:r>
          </a:p>
          <a:p>
            <a:pPr algn="l">
              <a:lnSpc>
                <a:spcPts val="2850"/>
              </a:lnSpc>
            </a:pPr>
            <a:r>
              <a:rPr lang="en-US" sz="2192" spc="-21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and key generation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43698" y="6162028"/>
            <a:ext cx="1999707" cy="73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spc="-21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Diffie-Hellman</a:t>
            </a:r>
          </a:p>
          <a:p>
            <a:pPr algn="l">
              <a:lnSpc>
                <a:spcPts val="2901"/>
              </a:lnSpc>
            </a:pPr>
            <a:r>
              <a:rPr lang="en-US" sz="2232" spc="-21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key exchange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48431" y="7487632"/>
            <a:ext cx="1526416" cy="73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22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EIGamal</a:t>
            </a:r>
          </a:p>
          <a:p>
            <a:pPr algn="l">
              <a:lnSpc>
                <a:spcPts val="2953"/>
              </a:lnSpc>
            </a:pPr>
            <a:r>
              <a:rPr lang="en-US" sz="2271" spc="-22">
                <a:solidFill>
                  <a:srgbClr val="F4ECDF"/>
                </a:solidFill>
                <a:latin typeface="Poppins"/>
                <a:ea typeface="Poppins"/>
                <a:cs typeface="Poppins"/>
                <a:sym typeface="Poppins"/>
              </a:rPr>
              <a:t>encryption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864086" y="8570678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06650" y="8848982"/>
            <a:ext cx="8638165" cy="83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759" spc="-26">
                <a:solidFill>
                  <a:srgbClr val="BD914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Euclid’s </a:t>
            </a: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algorithms and </a:t>
            </a:r>
            <a:r>
              <a:rPr lang="en-US" sz="2759" spc="-26">
                <a:solidFill>
                  <a:srgbClr val="BD914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Euler’s </a:t>
            </a:r>
            <a:r>
              <a:rPr lang="en-US" sz="2759" spc="-26">
                <a:solidFill>
                  <a:srgbClr val="F4ECD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theorems provide the structure that makes secure encryption possible.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622220" y="1924030"/>
            <a:ext cx="4364182" cy="5586245"/>
          </a:xfrm>
          <a:custGeom>
            <a:avLst/>
            <a:gdLst/>
            <a:ahLst/>
            <a:cxnLst/>
            <a:rect l="l" t="t" r="r" b="b"/>
            <a:pathLst>
              <a:path w="4364182" h="5586245">
                <a:moveTo>
                  <a:pt x="0" y="0"/>
                </a:moveTo>
                <a:lnTo>
                  <a:pt x="4364182" y="0"/>
                </a:lnTo>
                <a:lnTo>
                  <a:pt x="4364182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142574" y="3421712"/>
            <a:ext cx="4145426" cy="6231233"/>
          </a:xfrm>
          <a:custGeom>
            <a:avLst/>
            <a:gdLst/>
            <a:ahLst/>
            <a:cxnLst/>
            <a:rect l="l" t="t" r="r" b="b"/>
            <a:pathLst>
              <a:path w="4145426" h="6231233">
                <a:moveTo>
                  <a:pt x="0" y="0"/>
                </a:moveTo>
                <a:lnTo>
                  <a:pt x="4145426" y="0"/>
                </a:lnTo>
                <a:lnTo>
                  <a:pt x="4145426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08086" y="0"/>
            <a:ext cx="8279914" cy="10287000"/>
          </a:xfrm>
          <a:custGeom>
            <a:avLst/>
            <a:gdLst/>
            <a:ahLst/>
            <a:cxnLst/>
            <a:rect l="l" t="t" r="r" b="b"/>
            <a:pathLst>
              <a:path w="8279914" h="10287000">
                <a:moveTo>
                  <a:pt x="0" y="0"/>
                </a:moveTo>
                <a:lnTo>
                  <a:pt x="8279914" y="0"/>
                </a:lnTo>
                <a:lnTo>
                  <a:pt x="8279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8630" y="1538769"/>
            <a:ext cx="2825236" cy="152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0"/>
              </a:lnSpc>
            </a:pPr>
            <a:r>
              <a:rPr lang="en-US" sz="10790" spc="-321">
                <a:solidFill>
                  <a:srgbClr val="F0E7D9"/>
                </a:solidFill>
                <a:latin typeface="Poppins"/>
                <a:ea typeface="Poppins"/>
                <a:cs typeface="Poppins"/>
                <a:sym typeface="Poppins"/>
              </a:rPr>
              <a:t>KEY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9384" y="2948363"/>
            <a:ext cx="9107703" cy="150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50"/>
              </a:lnSpc>
            </a:pPr>
            <a:r>
              <a:rPr lang="en-US" sz="10650" spc="-317">
                <a:solidFill>
                  <a:srgbClr val="C09454"/>
                </a:solidFill>
                <a:latin typeface="Poppins"/>
                <a:ea typeface="Poppins"/>
                <a:cs typeface="Poppins"/>
                <a:sym typeface="Poppins"/>
              </a:rPr>
              <a:t>TAKEAWAYS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4285339"/>
            <a:ext cx="8498670" cy="218640"/>
          </a:xfrm>
          <a:custGeom>
            <a:avLst/>
            <a:gdLst/>
            <a:ahLst/>
            <a:cxnLst/>
            <a:rect l="l" t="t" r="r" b="b"/>
            <a:pathLst>
              <a:path w="8498670" h="218640">
                <a:moveTo>
                  <a:pt x="0" y="0"/>
                </a:moveTo>
                <a:lnTo>
                  <a:pt x="8498670" y="0"/>
                </a:lnTo>
                <a:lnTo>
                  <a:pt x="8498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83347" y="4897506"/>
            <a:ext cx="7390348" cy="8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29">
                <a:solidFill>
                  <a:srgbClr val="F0E7D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Core number theory powers algorithms and digital security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4436" y="6162617"/>
            <a:ext cx="5281405" cy="8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29">
                <a:solidFill>
                  <a:srgbClr val="F0E7D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Euler’s totient function enables</a:t>
            </a:r>
          </a:p>
          <a:p>
            <a:pPr algn="l">
              <a:lnSpc>
                <a:spcPts val="3639"/>
              </a:lnSpc>
            </a:pPr>
            <a:r>
              <a:rPr lang="en-US" sz="3032" spc="-29">
                <a:solidFill>
                  <a:srgbClr val="F0E7D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public key systems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876" y="7412667"/>
            <a:ext cx="5637395" cy="8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29">
                <a:solidFill>
                  <a:srgbClr val="F0E7D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Centuries of mathematics remain</a:t>
            </a:r>
          </a:p>
          <a:p>
            <a:pPr algn="l">
              <a:lnSpc>
                <a:spcPts val="3639"/>
              </a:lnSpc>
            </a:pPr>
            <a:r>
              <a:rPr lang="en-US" sz="3032" spc="-29">
                <a:solidFill>
                  <a:srgbClr val="F0E7D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essential to modern protection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9426" y="8617534"/>
            <a:ext cx="4782408" cy="892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29">
                <a:solidFill>
                  <a:srgbClr val="F0E7D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Mastering these ideas drives</a:t>
            </a:r>
          </a:p>
          <a:p>
            <a:pPr algn="l">
              <a:lnSpc>
                <a:spcPts val="3639"/>
              </a:lnSpc>
            </a:pPr>
            <a:r>
              <a:rPr lang="en-US" sz="3032" spc="-29">
                <a:solidFill>
                  <a:srgbClr val="F0E7D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cryptographic 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45598" y="1279043"/>
            <a:ext cx="7634584" cy="6865288"/>
          </a:xfrm>
          <a:custGeom>
            <a:avLst/>
            <a:gdLst/>
            <a:ahLst/>
            <a:cxnLst/>
            <a:rect l="l" t="t" r="r" b="b"/>
            <a:pathLst>
              <a:path w="7634584" h="6865288">
                <a:moveTo>
                  <a:pt x="0" y="0"/>
                </a:moveTo>
                <a:lnTo>
                  <a:pt x="7634584" y="0"/>
                </a:lnTo>
                <a:lnTo>
                  <a:pt x="7634584" y="6865287"/>
                </a:lnTo>
                <a:lnTo>
                  <a:pt x="0" y="686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7699" y="2232262"/>
            <a:ext cx="7349618" cy="1289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7"/>
              </a:lnSpc>
            </a:pPr>
            <a:r>
              <a:rPr lang="en-US" sz="9826" b="1">
                <a:solidFill>
                  <a:srgbClr val="F2E9DB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8199" y="3417300"/>
            <a:ext cx="6299672" cy="1320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2"/>
              </a:lnSpc>
            </a:pPr>
            <a:r>
              <a:rPr lang="en-US" sz="9898" b="1">
                <a:solidFill>
                  <a:srgbClr val="BB904D"/>
                </a:solidFill>
                <a:latin typeface="Poppins Bold"/>
                <a:ea typeface="Poppins Bold"/>
                <a:cs typeface="Poppins Bold"/>
                <a:sym typeface="Poppins Bold"/>
              </a:rPr>
              <a:t>FOR YOUR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1800" y="4634629"/>
            <a:ext cx="6939525" cy="1285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6"/>
              </a:lnSpc>
            </a:pPr>
            <a:r>
              <a:rPr lang="en-US" sz="9681" b="1">
                <a:solidFill>
                  <a:srgbClr val="BB904D"/>
                </a:solidFill>
                <a:latin typeface="Poppins Bold"/>
                <a:ea typeface="Poppins Bold"/>
                <a:cs typeface="Poppins Bold"/>
                <a:sym typeface="Poppins Bold"/>
              </a:rPr>
              <a:t>ATTENTION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5990729"/>
            <a:ext cx="3062584" cy="448211"/>
          </a:xfrm>
          <a:custGeom>
            <a:avLst/>
            <a:gdLst/>
            <a:ahLst/>
            <a:cxnLst/>
            <a:rect l="l" t="t" r="r" b="b"/>
            <a:pathLst>
              <a:path w="3062584" h="448211">
                <a:moveTo>
                  <a:pt x="0" y="0"/>
                </a:moveTo>
                <a:lnTo>
                  <a:pt x="3062584" y="0"/>
                </a:lnTo>
                <a:lnTo>
                  <a:pt x="306258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7919" y="6667948"/>
            <a:ext cx="5327584" cy="1401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2"/>
              </a:lnSpc>
            </a:pPr>
            <a:r>
              <a:rPr lang="en-US" sz="4684">
                <a:solidFill>
                  <a:srgbClr val="F2E9DB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Questions and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349</Words>
  <Application>Microsoft Office PowerPoint</Application>
  <PresentationFormat>Custom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Poppins Semi-Bold</vt:lpstr>
      <vt:lpstr>Calibri</vt:lpstr>
      <vt:lpstr>TT Interphases Bold</vt:lpstr>
      <vt:lpstr>Poppins</vt:lpstr>
      <vt:lpstr>Poppins Bold</vt:lpstr>
      <vt:lpstr>TT Interphases</vt:lpstr>
      <vt:lpstr>Arial</vt:lpstr>
      <vt:lpstr>Office Theme</vt:lpstr>
      <vt:lpstr>PRESENTED BY  PRIYANKA C (192511074)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GOWTHAMI.GUMMA</dc:creator>
  <cp:lastModifiedBy>Gowthami Gumma</cp:lastModifiedBy>
  <cp:revision>2</cp:revision>
  <dcterms:created xsi:type="dcterms:W3CDTF">2006-08-16T00:00:00Z</dcterms:created>
  <dcterms:modified xsi:type="dcterms:W3CDTF">2026-10-08T16:59:26Z</dcterms:modified>
  <dc:identifier>DAHXcK8JvXA</dc:identifier>
</cp:coreProperties>
</file>